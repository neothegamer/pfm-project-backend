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Node.js/Express/MongoDB Personal Finance Management backend. It covers auth, Plaid integration, transactions and budgeting. Sources: the GitHub README, the architecture doc and the GitBook API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Personal Finance Management backend. Four capabilities: auth, Plaid bank linking, transactions, budgeting. Stats: 19 routes (18 in the endpoint summary plus DELETE /api/budgets/:id from the Budgets page), 4 Mongoose models, 7-day default JWT lifetime, 30-day Plaid sync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Dependencies are taken from package.json: express ^4.19, mongoose ^8.5, plaid ^27, bcryptjs, jsonwebtoken, helmet, cors, express-rate-limit, dotenv. Dev: jest ^29, supertest, mongodb-memory-server, nodemon.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Folder structure condensed from docs/ARCHITECTURE.md. app.js is the Express app factory (middleware + route mounting); server.js is the entry point that loads env, connects to the DB and listens.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docs/ARCHITECTURE.md, "Request flow (authenticated)". Public routes are only register, login and 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docs/ARCHITECTURE.md. Amount sign follows Plaid: positive = expense, negative = income. Plaid sync never overwrites a transaction where isEdited is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from docs/ARCHITECTURE.md. For automated testing without the Link UI, scripts/e2e.js uses Plaid’s sandboxPublicTokenCreate. Access tokens are encrypted before they are 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GitBook endpoint summary. All routes except /api/health, /api/auth/register and /api/auth/login require an Authorization: Bearer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Transactions and budgets endpoints. Summary endpoints return spending per category and income vs. expense per month. DELETE /api/budgets/:id appears on the GitBook Budgets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Details from the GitBook Transactions page. limit defaults to 200 (max 500); page is 1-based. Editing marks isEdited so later syncs skip the record. Deleting a Plaid-synced transaction may bring it back on the next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responses are the samples shown in the GitBook Transactions page, not live data. by-category excludes income and sorts by total, largest first; the category name is returned in _id (MongoDB aggregation key). by-month returns calendar months oldest first, calculated in UTC, with income and expense as positive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monthly limit per category per user. PUT is an upsert and requires a non-negative monthlyLimit. The status endpoint returns spent, remaining and overBudget for the current calendar month (expenses only); remaining goes negative when over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Security decisions table in docs/ARCHITECTURE.md and the README’s Security hardening section. trust proxy is set to 1 so the rate limiter sees the real client IP behind a PaaS.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server refuses to start without TOKEN_ENCRYPTION_KEY (64 hex characters). If the key is lost or changed, stored tokens cannot be decrypted and users must re-link their banks. Everyone sharing a database must use the same key. npm run encrypt-tokens converts tokens saved before encryption was added and is safe to re-run.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Conventions page of the GitBook docs. The page says "three tiers" but its table lists four; four are shown here. 300 requests per 15 minutes is far above normal use — it exists to catch a runaway request loop. Limits can be overridden with RATE_LIMIT_* env vars and disabled in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npm test runs Jest against mongodb-memory-server with Plaid mocked. npm run e2e runs scripts/e2e.js against a running server with real Plaid sandbox keys, using sandboxPublicTokenCreate so no Link UI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 from the README and GitBook Quick start. Local base URL is http://localhost:5000 (PORT defaults to 5000). Plaid sandbox keys are free at dashboard.plaid.com/signup and use fake banks and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URL is https://pfm-project-backend.onrender.com (Render). Checklist from docs/ARCHITECTURE.md. The health endpoint needs no auth. Note: the deployment could not be probed automatically while preparing this deck, so its current status is not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GitBook Known limitations page and the architecture deployment notes. Note: three items on that page look stale versus the rest of the docs (transaction list cap and filters, no budget delete endpoint, open CORS), so they are left out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 of the backend: security, a scoped REST API, analytics endpoints, and a tested, documented codebase.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685800"/>
            <a:ext cx="5486400" cy="5486400"/>
          </a:xfrm>
          <a:prstGeom prst="ellipse">
            <a:avLst/>
          </a:prstGeom>
          <a:solidFill>
            <a:srgbClr val="0B0B0C"/>
          </a:solidFill>
          <a:ln w="19050">
            <a:solidFill>
              <a:srgbClr val="8E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1417320"/>
            <a:ext cx="4023360" cy="402336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37744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MANAGEMENT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0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  ·  MongoDB  ·  Plaid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6177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bank linking, transactions and budgeting — a walkthrough of the architecture, API, security model and deployment.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github.com/neothegamer/PFM-Project-Backend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REST API for personal finance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Node.js / Express / MongoDB backend that authenticates users, links bank accounts through Plaid, stores and categorises transactions, and tracks monthly budgets.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585216" cy="585216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2901208"/>
            <a:ext cx="269199" cy="26919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7249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30358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 with bcrypt-hashed passwords and JWT sessions.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639312"/>
            <a:ext cx="585216" cy="585216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3797320"/>
            <a:ext cx="269199" cy="26919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62102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bank linking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931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bank, import accounts, balances and recent transactions.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535424"/>
            <a:ext cx="585216" cy="585216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4693432"/>
            <a:ext cx="269199" cy="26919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451713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371600" y="48280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Plaid-synced or manual, editable, categorised and summarised.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5431536"/>
            <a:ext cx="585216" cy="585216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5589544"/>
            <a:ext cx="269199" cy="26919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71600" y="54132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371600" y="57241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monthly limit per category, tracked against this month’s spending.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7498080" y="18288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7726680" y="20574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4600" dirty="0"/>
          </a:p>
        </p:txBody>
      </p:sp>
      <p:sp>
        <p:nvSpPr>
          <p:cNvPr id="25" name="Text 18"/>
          <p:cNvSpPr txBox="1"/>
          <p:nvPr/>
        </p:nvSpPr>
        <p:spPr>
          <a:xfrm>
            <a:off x="772668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9674352" y="18288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902952" y="20574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 dirty="0"/>
          </a:p>
        </p:txBody>
      </p:sp>
      <p:sp>
        <p:nvSpPr>
          <p:cNvPr id="28" name="Text 21"/>
          <p:cNvSpPr txBox="1"/>
          <p:nvPr/>
        </p:nvSpPr>
        <p:spPr>
          <a:xfrm>
            <a:off x="9902952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models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7498080" y="37490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7726680" y="3977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</a:t>
            </a:r>
            <a:endParaRPr lang="en-US" sz="4600" dirty="0"/>
          </a:p>
        </p:txBody>
      </p:sp>
      <p:sp>
        <p:nvSpPr>
          <p:cNvPr id="31" name="Text 24"/>
          <p:cNvSpPr txBox="1"/>
          <p:nvPr/>
        </p:nvSpPr>
        <p:spPr>
          <a:xfrm>
            <a:off x="7726680" y="4846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JWT lifetime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9674352" y="37490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9902952" y="3977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30d</a:t>
            </a:r>
            <a:endParaRPr lang="en-US" sz="4600" dirty="0"/>
          </a:p>
        </p:txBody>
      </p:sp>
      <p:sp>
        <p:nvSpPr>
          <p:cNvPr id="34" name="Text 27"/>
          <p:cNvSpPr txBox="1"/>
          <p:nvPr/>
        </p:nvSpPr>
        <p:spPr>
          <a:xfrm>
            <a:off x="9902952" y="4846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sync window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small, focused toolchain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205533"/>
            <a:ext cx="252374" cy="25237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057400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API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235915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4.x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8346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app factory serving a JSON REST API under /api, with dotenv config and nodemon for local dev.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12538" y="205740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671" y="220553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44058" y="2057400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344058" y="235915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Mongoose 8.x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12538" y="28346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accounts, transactions and budgets — every query scoped to the logged-in user.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127797" y="178308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402117" y="205740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250" y="2205533"/>
            <a:ext cx="252374" cy="25237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33637" y="2057400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data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133637" y="235915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SDK 27.x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402117" y="28346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tokens, token exchange, accounts, transactions and balances. Sandbox or production via PLAID_ENV.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416052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458297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4434840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crypto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1554480" y="473659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· jsonwebtoken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" y="521208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hashing, stateless JWT sessions and AES-256-GCM encryption of Plaid access tokens.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338218" y="416052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612538" y="443484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671" y="4582973"/>
            <a:ext cx="252374" cy="25237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344058" y="4434840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5344058" y="473659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· cors · rate limit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4612538" y="521208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headers, an origin allowlist and tiered request limits (express-rate-limit).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8127797" y="416052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402117" y="443484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250" y="4582973"/>
            <a:ext cx="252374" cy="25237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133637" y="4434840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800" dirty="0"/>
          </a:p>
        </p:txBody>
      </p:sp>
      <p:sp>
        <p:nvSpPr>
          <p:cNvPr id="40" name="Text 31"/>
          <p:cNvSpPr txBox="1"/>
          <p:nvPr/>
        </p:nvSpPr>
        <p:spPr>
          <a:xfrm>
            <a:off x="9133637" y="4736592"/>
            <a:ext cx="2326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29 · supertest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8402117" y="521208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suite on an in-memory MongoDB, plus a live Plaid-sandbox end-to-end script.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by responsibility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101012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929384"/>
            <a:ext cx="5266944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app.js   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 app factory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server.js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→ DB → listen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  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· plaid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middleware/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· asyncHandler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errorHandler · rateLimit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  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· Account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· Budget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routes/  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· plaid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 · budgets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utils/   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· categorize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plaidInstitution · validate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plaidTransactions · accounts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scripts/ 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encrypt-existing-tokens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     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· ARCHITECTURE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__tests__/     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Jest + supertest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92240" y="1783080"/>
            <a:ext cx="5148072" cy="804672"/>
          </a:xfrm>
          <a:prstGeom prst="roundRect">
            <a:avLst>
              <a:gd name="adj" fmla="val 909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75120" y="178308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178308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builds the Express app; server.js loads env, connects MongoDB and starts listening.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2679192"/>
            <a:ext cx="5148072" cy="804672"/>
          </a:xfrm>
          <a:prstGeom prst="roundRect">
            <a:avLst>
              <a:gd name="adj" fmla="val 909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0" y="267919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679192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verification sets req.userId; asyncHandler, a central error handler with 404s, and rate limiting.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92240" y="3575304"/>
            <a:ext cx="5148072" cy="804672"/>
          </a:xfrm>
          <a:prstGeom prst="roundRect">
            <a:avLst>
              <a:gd name="adj" fmla="val 909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75120" y="3575304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3575304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(bcrypt password, plaidItems[]), Account, Transaction and Budget.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92240" y="4471416"/>
            <a:ext cx="5148072" cy="804672"/>
          </a:xfrm>
          <a:prstGeom prst="roundRect">
            <a:avLst>
              <a:gd name="adj" fmla="val 909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75120" y="447141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4471416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plaid, transactions and budgets, mounted under /api.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92240" y="5367528"/>
            <a:ext cx="5148072" cy="804672"/>
          </a:xfrm>
          <a:prstGeom prst="roundRect">
            <a:avLst>
              <a:gd name="adj" fmla="val 909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75120" y="536752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046720" y="5367528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crypto, merchant categorisation, paginated Plaid fetch with PRODUCT_NOT_READY retry, input validation.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of an authenticated request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548354" y="2057400"/>
            <a:ext cx="9094988" cy="0"/>
          </a:xfrm>
          <a:prstGeom prst="line">
            <a:avLst/>
          </a:prstGeom>
          <a:noFill/>
          <a:ln w="19050">
            <a:solidFill>
              <a:srgbClr val="3A3A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74034" y="178308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999427" cy="2651760"/>
          </a:xfrm>
          <a:prstGeom prst="roundRect">
            <a:avLst>
              <a:gd name="adj" fmla="val 3659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788920"/>
            <a:ext cx="16336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127248"/>
            <a:ext cx="16336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request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611880"/>
            <a:ext cx="163366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Authorization: Bearer &lt;jwt&gt; on every route except register, login and health.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47781" y="178308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822387" y="2606040"/>
            <a:ext cx="1999427" cy="2651760"/>
          </a:xfrm>
          <a:prstGeom prst="roundRect">
            <a:avLst>
              <a:gd name="adj" fmla="val 3659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05267" y="2788920"/>
            <a:ext cx="16336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token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05267" y="3127248"/>
            <a:ext cx="16336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middleware/auth.js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005267" y="3611880"/>
            <a:ext cx="163366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JWT with JWT_SECRET and sets req.userId on the request.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21528" y="178308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096134" y="2606040"/>
            <a:ext cx="1999427" cy="2651760"/>
          </a:xfrm>
          <a:prstGeom prst="roundRect">
            <a:avLst>
              <a:gd name="adj" fmla="val 3659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79014" y="2788920"/>
            <a:ext cx="16336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279014" y="3127248"/>
            <a:ext cx="16336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routes/* · asyncHandler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279014" y="3611880"/>
            <a:ext cx="163366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endpoint logic, usually wrapped so async errors reach the error handler.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095275" y="178308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7369881" y="2606040"/>
            <a:ext cx="1999427" cy="2651760"/>
          </a:xfrm>
          <a:prstGeom prst="roundRect">
            <a:avLst>
              <a:gd name="adj" fmla="val 3659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52761" y="2788920"/>
            <a:ext cx="16336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data access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52761" y="3127248"/>
            <a:ext cx="16336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models/*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552761" y="3611880"/>
            <a:ext cx="163366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filters by user: req.userId; nested resources get ownership checks.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369022" y="178308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643628" y="2606040"/>
            <a:ext cx="1999427" cy="2651760"/>
          </a:xfrm>
          <a:prstGeom prst="roundRect">
            <a:avLst>
              <a:gd name="adj" fmla="val 3659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826508" y="2788920"/>
            <a:ext cx="16336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826508" y="3127248"/>
            <a:ext cx="16336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middleware/errorHandler.js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26508" y="3611880"/>
            <a:ext cx="163366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bubble up to one place and return consistent { "error": "…" } JSON.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2960" y="54864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routes:   </a:t>
            </a:r>
            <a:pPr indent="0" marL="0">
              <a:buNone/>
            </a:pPr>
            <a:r>
              <a:rPr lang="en-US" sz="13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/api/auth/register   ·   POST /api/auth/login   ·   GET /api/health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models, all owned by the user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78308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50008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 (bcrypt)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plaidItems[]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accessToken (encrypted)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institutionName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49040" y="17830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49040" y="178308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3192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2350008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plaidAccountId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0" y="178308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178308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235000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isManual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isEdited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749040" y="3977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749040" y="39776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3192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45445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monthlyLimit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108960" y="2697480"/>
            <a:ext cx="640080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3108960" y="23957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760720" y="2697480"/>
            <a:ext cx="640080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5760720" y="23957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108960" y="4663440"/>
            <a:ext cx="640080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3108960" y="43616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669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scoped by user: req.userId — no request can pass a userId.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778240" y="1783080"/>
            <a:ext cx="2862072" cy="1371600"/>
          </a:xfrm>
          <a:prstGeom prst="roundRect">
            <a:avLst>
              <a:gd name="adj" fmla="val 5333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96112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sign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961120" y="2240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expense, negative = income (Plaid convention). Summaries return income as a positive number.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778240" y="3337560"/>
            <a:ext cx="2862072" cy="1371600"/>
          </a:xfrm>
          <a:prstGeom prst="roundRect">
            <a:avLst>
              <a:gd name="adj" fmla="val 5333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61120" y="3474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are protected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961120" y="37947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sync never overwrites a transaction where isEdited === true.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778240" y="4892040"/>
            <a:ext cx="2862072" cy="1371600"/>
          </a:xfrm>
          <a:prstGeom prst="roundRect">
            <a:avLst>
              <a:gd name="adj" fmla="val 5333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961120" y="5029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stay server-side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961120" y="53492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encrypted form of each Plaid access token is stored.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INTEGRATION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bank gets linked and synced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103120" y="2286000"/>
            <a:ext cx="0" cy="4023360"/>
          </a:xfrm>
          <a:prstGeom prst="line">
            <a:avLst/>
          </a:prstGeom>
          <a:noFill/>
          <a:ln w="12700">
            <a:solidFill>
              <a:srgbClr val="3A3A42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914400" y="17830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12126"/>
          </a:solidFill>
          <a:ln w="9525">
            <a:solidFill>
              <a:srgbClr val="3A3A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80760" y="2286000"/>
            <a:ext cx="0" cy="4023360"/>
          </a:xfrm>
          <a:prstGeom prst="line">
            <a:avLst/>
          </a:prstGeom>
          <a:noFill/>
          <a:ln w="12700">
            <a:solidFill>
              <a:srgbClr val="3A3A42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892040" y="17830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01E26"/>
          </a:solidFill>
          <a:ln w="952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(this repo)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058400" y="2286000"/>
            <a:ext cx="0" cy="4023360"/>
          </a:xfrm>
          <a:prstGeom prst="line">
            <a:avLst/>
          </a:prstGeom>
          <a:noFill/>
          <a:ln w="12700">
            <a:solidFill>
              <a:srgbClr val="3A3A42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8869680" y="17830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12126"/>
          </a:solidFill>
          <a:ln w="9525">
            <a:solidFill>
              <a:srgbClr val="3A3A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176272" y="2788920"/>
            <a:ext cx="3831336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2103120" y="24963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/create-link-token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53912" y="2788920"/>
            <a:ext cx="3831336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6080760" y="24963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linkTokenCreate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 flipH="1">
            <a:off x="2176272" y="3429000"/>
            <a:ext cx="7808976" cy="0"/>
          </a:xfrm>
          <a:prstGeom prst="line">
            <a:avLst/>
          </a:prstGeom>
          <a:noFill/>
          <a:ln w="22225">
            <a:solidFill>
              <a:srgbClr val="9A9AA3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2103120" y="31363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Link UI: user picks a bank  →  public_token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176272" y="4069080"/>
            <a:ext cx="3831336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2103120" y="37764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/exchange-public-token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53912" y="4069080"/>
            <a:ext cx="3831336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6080760" y="37764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itemPublicTokenExchange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434840" y="4251960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212126"/>
          </a:solidFill>
          <a:ln w="12700">
            <a:solidFill>
              <a:srgbClr val="8E0F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accountsGet + institution lookup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token  ·  save accounts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 flipH="1">
            <a:off x="2176272" y="5193792"/>
            <a:ext cx="3831336" cy="0"/>
          </a:xfrm>
          <a:prstGeom prst="line">
            <a:avLst/>
          </a:prstGeom>
          <a:noFill/>
          <a:ln w="22225">
            <a:solidFill>
              <a:srgbClr val="9A9AA3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2103120" y="49011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accounts[]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176272" y="5715000"/>
            <a:ext cx="3831336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2103120" y="54223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/sync-transactions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53912" y="5715000"/>
            <a:ext cx="3831336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6080760" y="54223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transactionsGet (paged)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434840" y="585216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212126"/>
          </a:solidFill>
          <a:ln w="12700">
            <a:solidFill>
              <a:srgbClr val="8E0F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transactions  ·  skip isEdited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health and Plaid endpoints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928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057400" y="1837944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3F3F46"/>
          </a:solidFill>
          <a:ln w="3175">
            <a:solidFill>
              <a:srgbClr val="3F3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18745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/api/health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187452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health check (no auth)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21992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3317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057400" y="227685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23134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31343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user, returns a token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2660904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57400" y="2715768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017520" y="27523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275234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in, returns a token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3099816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057400" y="315468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3F3F46"/>
          </a:solidFill>
          <a:ln w="3175">
            <a:solidFill>
              <a:srgbClr val="3F3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017520" y="3191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/api/auth/me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319125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token, get the current user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3538728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36484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057400" y="359359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3017520" y="36301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/api/plaid/create-link-token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363016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link_token to open Plaid Link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3977640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57400" y="4032504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3017520" y="40690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/api/plaid/exchange-public-token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0" y="406908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linking, save the bank’s accounts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8640" y="4416552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057400" y="447141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3F3F46"/>
          </a:solidFill>
          <a:ln w="3175">
            <a:solidFill>
              <a:srgbClr val="3F3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3017520" y="45079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/api/plaid/accounts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040880" y="450799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linked accounts with balances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48640" y="4855464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057400" y="4910328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3017520" y="49469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/api/plaid/sync-transactions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7040880" y="494690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last 30 days of transactions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48640" y="5294376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057400" y="534924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3017520" y="5385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/api/plaid/refresh-balances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7040880" y="53858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balances for all linked banks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</a:t>
            </a:r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except health, register and login needs  </a:t>
            </a:r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&lt;token&gt;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and budget endpoints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928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057400" y="1837944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3F3F46"/>
          </a:solidFill>
          <a:ln w="3175">
            <a:solidFill>
              <a:srgbClr val="3F3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18745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187452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transactions — filter and paginate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21992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57400" y="227685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23134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231343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manual transaction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660904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57400" y="2715768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8E0F14"/>
          </a:solidFill>
          <a:ln w="3175">
            <a:solidFill>
              <a:srgbClr val="8E0F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27523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/api/transactions/:id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75234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name, amount, date or category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099816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57400" y="315468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 w="3175">
            <a:solidFill>
              <a:srgbClr val="F4F4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017520" y="3191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/api/transactions/:id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319125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transaction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538728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57400" y="359359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3F3F46"/>
          </a:solidFill>
          <a:ln w="3175">
            <a:solidFill>
              <a:srgbClr val="3F3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017520" y="36301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/api/transactions/summary/by-category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363016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per category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3977640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057400" y="4032504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3F3F46"/>
          </a:solidFill>
          <a:ln w="3175">
            <a:solidFill>
              <a:srgbClr val="3F3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017520" y="40690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/api/transactions/summary/by-month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06908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vs. expense per month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4416552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31520" y="45262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057400" y="447141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3F3F46"/>
          </a:solidFill>
          <a:ln w="3175">
            <a:solidFill>
              <a:srgbClr val="3F3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3017520" y="45079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/api/budgets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040880" y="450799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category limits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48640" y="4855464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057400" y="4910328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8E0F14"/>
          </a:solidFill>
          <a:ln w="3175">
            <a:solidFill>
              <a:srgbClr val="8E0F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3017520" y="49469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/api/budgets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040880" y="494690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update a category limit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48640" y="5294376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057400" y="534924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 w="3175">
            <a:solidFill>
              <a:srgbClr val="F4F4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3017520" y="5385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/api/budgets/:id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7040880" y="53858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category’s limit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48640" y="5733288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057400" y="578815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3F3F46"/>
          </a:solidFill>
          <a:ln w="3175">
            <a:solidFill>
              <a:srgbClr val="3F3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3017520" y="58247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/api/budgets/status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7040880" y="582472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with this month’s spend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from Plaid, or add and edit by hand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85216" cy="585216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1941088"/>
            <a:ext cx="269199" cy="26919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764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paginate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209397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account, category, from / to, limit (max 500) and page. Newest first.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898648"/>
            <a:ext cx="585216" cy="585216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3056656"/>
            <a:ext cx="269199" cy="26919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880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entries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320954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one of the user’s accounts. Category is guessed from the merchant name, else “Uncategorized”.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4014216"/>
            <a:ext cx="585216" cy="585216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4172224"/>
            <a:ext cx="269199" cy="26919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39959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stick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1371600" y="432511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name, amount, date or category. isEdited: true stops later Plaid syncs overwriting it.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5129784"/>
            <a:ext cx="585216" cy="585216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5287792"/>
            <a:ext cx="269199" cy="269199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71600" y="51114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with care</a:t>
            </a:r>
            <a:endParaRPr lang="en-US" sz="1700" dirty="0"/>
          </a:p>
        </p:txBody>
      </p:sp>
      <p:sp>
        <p:nvSpPr>
          <p:cNvPr id="21" name="Text 14"/>
          <p:cNvSpPr txBox="1"/>
          <p:nvPr/>
        </p:nvSpPr>
        <p:spPr>
          <a:xfrm>
            <a:off x="1371600" y="5440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deleted Plaid-synced transaction can return on the next sync — deletes suit mistaken manual entries.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675120" y="1783080"/>
            <a:ext cx="4965192" cy="1920240"/>
          </a:xfrm>
          <a:prstGeom prst="roundRect">
            <a:avLst>
              <a:gd name="adj" fmla="val 3810"/>
            </a:avLst>
          </a:prstGeom>
          <a:solidFill>
            <a:srgbClr val="101012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6876288" y="1929384"/>
            <a:ext cx="456285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?category=Food and Drink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&amp;from=2026-08-01&amp;to=2026-08-31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&amp;limit=50&amp;page=2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newest first · limit max 500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675120" y="3931920"/>
            <a:ext cx="4965192" cy="2331720"/>
          </a:xfrm>
          <a:prstGeom prst="roundRect">
            <a:avLst>
              <a:gd name="adj" fmla="val 3137"/>
            </a:avLst>
          </a:prstGeom>
          <a:solidFill>
            <a:srgbClr val="101012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876288" y="4078224"/>
            <a:ext cx="4562856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</a:t>
            </a:r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"account": "64f1…",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"Starbucks #4521",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"amount": 6.25,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"2026-08-04",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"Food and Drink"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summaries, computed server-side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541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/api/transactions/summary/by-category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233008" y="1691640"/>
            <a:ext cx="541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/api/transactions/summary/by-month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01012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203704"/>
            <a:ext cx="500771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"summary": 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pPr indent="0" marL="0">
              <a:buNone/>
            </a:pPr>
            <a:r>
              <a:rPr lang="en-US" sz="14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"_id"</a:t>
            </a:r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"Food and Drink",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"total"</a:t>
            </a:r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312.4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pPr indent="0" marL="0">
              <a:buNone/>
            </a:pPr>
            <a:r>
              <a:rPr lang="en-US" sz="14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"_id"</a:t>
            </a:r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"Shopping",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"total"</a:t>
            </a:r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120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33008" y="205740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01012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34176" y="2203704"/>
            <a:ext cx="500771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"summary": 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pPr indent="0" marL="0">
              <a:buNone/>
            </a:pPr>
            <a:r>
              <a:rPr lang="en-US" sz="14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"month"</a:t>
            </a:r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"2026-07",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"income"</a:t>
            </a:r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3000,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"expense"</a:t>
            </a:r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1840.5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pPr indent="0" marL="0">
              <a:buNone/>
            </a:pPr>
            <a:r>
              <a:rPr lang="en-US" sz="14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"month"</a:t>
            </a:r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"2026-08", </a:t>
            </a:r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3515258" cy="1325880"/>
          </a:xfrm>
          <a:prstGeom prst="roundRect">
            <a:avLst>
              <a:gd name="adj" fmla="val 5517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68172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047488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only — income is excluded. Sorted by total, largest first.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38218" y="4526280"/>
            <a:ext cx="3515258" cy="1325880"/>
          </a:xfrm>
          <a:prstGeom prst="roundRect">
            <a:avLst>
              <a:gd name="adj" fmla="val 5517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66818" y="468172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66818" y="5047488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months in UTC, oldest first.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27797" y="4526280"/>
            <a:ext cx="3515258" cy="1325880"/>
          </a:xfrm>
          <a:prstGeom prst="roundRect">
            <a:avLst>
              <a:gd name="adj" fmla="val 5517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56397" y="468172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356397" y="5047488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expense are both returned as positive numbers.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035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responses from the API docs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limits with server-side status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91109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3F3F46"/>
          </a:solidFill>
          <a:ln w="3175">
            <a:solidFill>
              <a:srgbClr val="3F3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1938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/api/budgets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category limits.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91693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8E0F14"/>
          </a:solidFill>
          <a:ln w="3175">
            <a:solidFill>
              <a:srgbClr val="8E0F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691640" y="2944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/api/budgets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update a limit — safe for both “add” and “edit”.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7947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92277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 w="3175">
            <a:solidFill>
              <a:srgbClr val="F4F4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691640" y="3950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/api/budgets/:id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297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limit; transactions are untouched.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92861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3F3F46"/>
          </a:solidFill>
          <a:ln w="3175">
            <a:solidFill>
              <a:srgbClr val="3F3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691640" y="49560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/api/budgets/status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303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limit with this month’s expense total.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852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monthlyLimit must be a non-negative number.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1691640"/>
            <a:ext cx="5605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/api/budgets/status — one row per budget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35040" y="210312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2258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2542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$300.00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31821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monthlyLimit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690104" y="2898648"/>
            <a:ext cx="292608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8037576" y="210312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0456" y="2258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220456" y="2542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$312.40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8220456" y="31821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this month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692640" y="2898648"/>
            <a:ext cx="292608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10040112" y="210312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222992" y="2258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10222992" y="2542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−$12.40</a:t>
            </a:r>
            <a:endParaRPr lang="en-US" sz="2400" dirty="0"/>
          </a:p>
        </p:txBody>
      </p:sp>
      <p:sp>
        <p:nvSpPr>
          <p:cNvPr id="37" name="Text 34"/>
          <p:cNvSpPr txBox="1"/>
          <p:nvPr/>
        </p:nvSpPr>
        <p:spPr>
          <a:xfrm>
            <a:off x="10222992" y="31821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− spent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035040" y="3977640"/>
            <a:ext cx="5605272" cy="1463040"/>
          </a:xfrm>
          <a:prstGeom prst="roundRect">
            <a:avLst>
              <a:gd name="adj" fmla="val 5000"/>
            </a:avLst>
          </a:prstGeom>
          <a:solidFill>
            <a:srgbClr val="101012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236208" y="4123944"/>
            <a:ext cx="520293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"category"</a:t>
            </a:r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"Food and Drink",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"monthlyLimit"</a:t>
            </a:r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300,  </a:t>
            </a:r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"spent"</a:t>
            </a:r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312.4,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"remaining"</a:t>
            </a:r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-12.4,  </a:t>
            </a:r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"overBudget"</a:t>
            </a:r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true }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035040" y="5623560"/>
            <a:ext cx="5605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goes negative when a category is over budget. Example from the API docs.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depth, from password to proxy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02154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011680"/>
            <a:ext cx="512064" cy="512064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497" y="2149937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2679192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01752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with 10 salt rounds. Never returned in any response.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79394" y="1783080"/>
            <a:ext cx="2602154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07994" y="2011680"/>
            <a:ext cx="512064" cy="512064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251" y="214993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07994" y="2679192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607994" y="301752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signed with JWT_SECRET. Expiry is configurable (default 7d).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10148" y="1783080"/>
            <a:ext cx="2602154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38748" y="2011680"/>
            <a:ext cx="512064" cy="512064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005" y="2149937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38748" y="2679192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tokens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438748" y="301752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at rest, keyed by TOKEN_ENCRYPTION_KEY.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040901" y="1783080"/>
            <a:ext cx="2602154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269501" y="2011680"/>
            <a:ext cx="512064" cy="512064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759" y="2149937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269501" y="2679192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9269501" y="301752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and format checks run before any DB query, blocking payloads like {"$ne": null}.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8640" y="4069080"/>
            <a:ext cx="2602154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77240" y="4297680"/>
            <a:ext cx="512064" cy="512064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497" y="4435937"/>
            <a:ext cx="235549" cy="235549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77240" y="4965192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777240" y="530352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caps per IP or user. trust proxy = 1 keeps client IPs accurate on a PaaS.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3379394" y="4069080"/>
            <a:ext cx="2602154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3607994" y="4297680"/>
            <a:ext cx="512064" cy="512064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6251" y="4435937"/>
            <a:ext cx="235549" cy="235549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3607994" y="4965192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3607994" y="530352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sets baseline security headers on every route.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6210148" y="4069080"/>
            <a:ext cx="2602154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438748" y="4297680"/>
            <a:ext cx="512064" cy="512064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7005" y="4435937"/>
            <a:ext cx="235549" cy="235549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438748" y="4965192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600" dirty="0"/>
          </a:p>
        </p:txBody>
      </p:sp>
      <p:sp>
        <p:nvSpPr>
          <p:cNvPr id="40" name="Text 30"/>
          <p:cNvSpPr txBox="1"/>
          <p:nvPr/>
        </p:nvSpPr>
        <p:spPr>
          <a:xfrm>
            <a:off x="6438748" y="530352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allowlist via CORS_ORIGIN; other origins get a 403.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9040901" y="4069080"/>
            <a:ext cx="2602154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9269501" y="4297680"/>
            <a:ext cx="512064" cy="512064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7759" y="4435937"/>
            <a:ext cx="235549" cy="235549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269501" y="4965192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600" dirty="0"/>
          </a:p>
        </p:txBody>
      </p:sp>
      <p:sp>
        <p:nvSpPr>
          <p:cNvPr id="45" name="Text 34"/>
          <p:cNvSpPr txBox="1"/>
          <p:nvPr/>
        </p:nvSpPr>
        <p:spPr>
          <a:xfrm>
            <a:off x="9269501" y="530352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mutation checks the resource belongs to req.userId.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tokens are encrypted at rest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7647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before storage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0939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access tokens are AES-256-GCM encrypted before they reach MongoDB.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8620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closed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319125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won’t start without TOKEN_ENCRYPTION_KEY — 64 hex characters.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97764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39593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the key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428853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out of git and back it up. Lose or change it and users must re-link their banks.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50566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per database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538581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sharing a database must use the same key.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75120" y="1783080"/>
            <a:ext cx="4965192" cy="1371600"/>
          </a:xfrm>
          <a:prstGeom prst="roundRect">
            <a:avLst>
              <a:gd name="adj" fmla="val 5333"/>
            </a:avLst>
          </a:prstGeom>
          <a:solidFill>
            <a:srgbClr val="101012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76288" y="1929384"/>
            <a:ext cx="45628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a 64-hex-char 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-e "console.log(require('crypto')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.randomBytes(32).toString('hex'))"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75120" y="3383280"/>
            <a:ext cx="4965192" cy="1097280"/>
          </a:xfrm>
          <a:prstGeom prst="roundRect">
            <a:avLst>
              <a:gd name="adj" fmla="val 6667"/>
            </a:avLst>
          </a:prstGeom>
          <a:solidFill>
            <a:srgbClr val="101012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76288" y="3529584"/>
            <a:ext cx="4562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pre-encryption tokens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encrypt-tokens</a:t>
            </a:r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safe to re-run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675120" y="4709160"/>
            <a:ext cx="4965192" cy="1234440"/>
          </a:xfrm>
          <a:prstGeom prst="roundRect">
            <a:avLst>
              <a:gd name="adj" fmla="val 592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03720" y="505206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1853" y="5200193"/>
            <a:ext cx="252374" cy="25237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680960" y="470916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tokens never leave the server — only the encrypted form is stored.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tiers of rate limiting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588438" cy="2377440"/>
          </a:xfrm>
          <a:prstGeom prst="roundRect">
            <a:avLst>
              <a:gd name="adj" fmla="val 3077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947672"/>
            <a:ext cx="2131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94560"/>
            <a:ext cx="21312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2131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/ 15 min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64992"/>
            <a:ext cx="2131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IP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675888"/>
            <a:ext cx="21312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 · login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966" y="1783080"/>
            <a:ext cx="2588438" cy="2377440"/>
          </a:xfrm>
          <a:prstGeom prst="roundRect">
            <a:avLst>
              <a:gd name="adj" fmla="val 3077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2566" y="1947672"/>
            <a:ext cx="2131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612566" y="2194560"/>
            <a:ext cx="21312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5600" dirty="0"/>
          </a:p>
        </p:txBody>
      </p:sp>
      <p:sp>
        <p:nvSpPr>
          <p:cNvPr id="15" name="Text 12"/>
          <p:cNvSpPr txBox="1"/>
          <p:nvPr/>
        </p:nvSpPr>
        <p:spPr>
          <a:xfrm>
            <a:off x="3612566" y="3108960"/>
            <a:ext cx="2131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/ 15 min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612566" y="3364992"/>
            <a:ext cx="2131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(IP if signed out)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612566" y="3675888"/>
            <a:ext cx="21312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other /api route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19292" y="1783080"/>
            <a:ext cx="2588438" cy="2377440"/>
          </a:xfrm>
          <a:prstGeom prst="roundRect">
            <a:avLst>
              <a:gd name="adj" fmla="val 3077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47892" y="1947672"/>
            <a:ext cx="2131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SYNC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47892" y="2194560"/>
            <a:ext cx="21312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600" dirty="0"/>
          </a:p>
        </p:txBody>
      </p:sp>
      <p:sp>
        <p:nvSpPr>
          <p:cNvPr id="21" name="Text 18"/>
          <p:cNvSpPr txBox="1"/>
          <p:nvPr/>
        </p:nvSpPr>
        <p:spPr>
          <a:xfrm>
            <a:off x="6447892" y="3108960"/>
            <a:ext cx="2131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/ 15 min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47892" y="3364992"/>
            <a:ext cx="2131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47892" y="3675888"/>
            <a:ext cx="21312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sync-transactions · refresh-balances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54617" y="1783080"/>
            <a:ext cx="2588438" cy="2377440"/>
          </a:xfrm>
          <a:prstGeom prst="roundRect">
            <a:avLst>
              <a:gd name="adj" fmla="val 3077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283217" y="1947672"/>
            <a:ext cx="2131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TOKEN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283217" y="2194560"/>
            <a:ext cx="21312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5600" dirty="0"/>
          </a:p>
        </p:txBody>
      </p:sp>
      <p:sp>
        <p:nvSpPr>
          <p:cNvPr id="27" name="Text 24"/>
          <p:cNvSpPr txBox="1"/>
          <p:nvPr/>
        </p:nvSpPr>
        <p:spPr>
          <a:xfrm>
            <a:off x="9283217" y="3108960"/>
            <a:ext cx="2131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/ 15 min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283217" y="3364992"/>
            <a:ext cx="2131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283217" y="3675888"/>
            <a:ext cx="21312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create-link-token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4434840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960" y="459943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limit is hit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" y="4983480"/>
            <a:ext cx="486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returns </a:t>
            </a:r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 { "error": "…" }</a:t>
            </a:r>
            <a:pPr indent="0" marL="0">
              <a:buNone/>
            </a:pPr>
            <a:r>
              <a:rPr lang="en-US" sz="14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Clients should back off and try again in a few minutes rather than retrying immediately.</a:t>
            </a:r>
            <a:endParaRPr lang="en-US" sz="1450" dirty="0"/>
          </a:p>
        </p:txBody>
      </p:sp>
      <p:sp>
        <p:nvSpPr>
          <p:cNvPr id="33" name="Shape 30"/>
          <p:cNvSpPr/>
          <p:nvPr/>
        </p:nvSpPr>
        <p:spPr>
          <a:xfrm>
            <a:off x="6233008" y="4434840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07328" y="459943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507328" y="498348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RATE_LIMIT_ENABLED=false     # tests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RATE_LIMIT_AUTH_MAX · RATE_LIMIT_GENERAL_MAX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RATE_LIMIT_PLAID_MAX · RATE_LIMIT_LINK_TOKEN_MAX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memory, verified live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202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8600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 on an in-memory MongoDB with mocked Plaid — no real database needed.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33008" y="178308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192024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e2e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07328" y="228600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flow against a running server and real Plaid sandbox keys.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suite covers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3520440"/>
            <a:ext cx="2602154" cy="457200"/>
          </a:xfrm>
          <a:prstGeom prst="roundRect">
            <a:avLst>
              <a:gd name="adj" fmla="val 16000"/>
            </a:avLst>
          </a:prstGeom>
          <a:solidFill>
            <a:srgbClr val="212126"/>
          </a:solidFill>
          <a:ln w="9525">
            <a:solidFill>
              <a:srgbClr val="2C2C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79394" y="3520440"/>
            <a:ext cx="2602154" cy="457200"/>
          </a:xfrm>
          <a:prstGeom prst="roundRect">
            <a:avLst>
              <a:gd name="adj" fmla="val 16000"/>
            </a:avLst>
          </a:prstGeom>
          <a:solidFill>
            <a:srgbClr val="212126"/>
          </a:solidFill>
          <a:ln w="9525">
            <a:solidFill>
              <a:srgbClr val="2C2C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10148" y="3520440"/>
            <a:ext cx="2602154" cy="457200"/>
          </a:xfrm>
          <a:prstGeom prst="roundRect">
            <a:avLst>
              <a:gd name="adj" fmla="val 16000"/>
            </a:avLst>
          </a:prstGeom>
          <a:solidFill>
            <a:srgbClr val="212126"/>
          </a:solidFill>
          <a:ln w="9525">
            <a:solidFill>
              <a:srgbClr val="2C2C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040901" y="3520440"/>
            <a:ext cx="2602154" cy="457200"/>
          </a:xfrm>
          <a:prstGeom prst="roundRect">
            <a:avLst>
              <a:gd name="adj" fmla="val 16000"/>
            </a:avLst>
          </a:prstGeom>
          <a:solidFill>
            <a:srgbClr val="212126"/>
          </a:solidFill>
          <a:ln w="9525">
            <a:solidFill>
              <a:srgbClr val="2C2C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link / sync / balances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4114800"/>
            <a:ext cx="2602154" cy="457200"/>
          </a:xfrm>
          <a:prstGeom prst="roundRect">
            <a:avLst>
              <a:gd name="adj" fmla="val 16000"/>
            </a:avLst>
          </a:prstGeom>
          <a:solidFill>
            <a:srgbClr val="212126"/>
          </a:solidFill>
          <a:ln w="9525">
            <a:solidFill>
              <a:srgbClr val="2C2C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encryption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379394" y="4114800"/>
            <a:ext cx="2602154" cy="457200"/>
          </a:xfrm>
          <a:prstGeom prst="roundRect">
            <a:avLst>
              <a:gd name="adj" fmla="val 16000"/>
            </a:avLst>
          </a:prstGeom>
          <a:solidFill>
            <a:srgbClr val="212126"/>
          </a:solidFill>
          <a:ln w="9525">
            <a:solidFill>
              <a:srgbClr val="2C2C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data isolation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10148" y="4114800"/>
            <a:ext cx="2602154" cy="457200"/>
          </a:xfrm>
          <a:prstGeom prst="roundRect">
            <a:avLst>
              <a:gd name="adj" fmla="val 16000"/>
            </a:avLst>
          </a:prstGeom>
          <a:solidFill>
            <a:srgbClr val="212126"/>
          </a:solidFill>
          <a:ln w="9525">
            <a:solidFill>
              <a:srgbClr val="2C2C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040901" y="4114800"/>
            <a:ext cx="2602154" cy="457200"/>
          </a:xfrm>
          <a:prstGeom prst="roundRect">
            <a:avLst>
              <a:gd name="adj" fmla="val 16000"/>
            </a:avLst>
          </a:prstGeom>
          <a:solidFill>
            <a:srgbClr val="212126"/>
          </a:solidFill>
          <a:ln w="9525">
            <a:solidFill>
              <a:srgbClr val="2C2C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end-to-end smoke test (no Link UI needed)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8640" y="525780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618"/>
          </a:solidFill>
          <a:ln w="12700">
            <a:solidFill>
              <a:srgbClr val="8E0F14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throwaway user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575499" y="5692140"/>
            <a:ext cx="219456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2822387" y="525780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618"/>
          </a:solidFill>
          <a:ln w="12700">
            <a:solidFill>
              <a:srgbClr val="8E0F14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Plaid sandbox public token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9246" y="5692140"/>
            <a:ext cx="219456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5096134" y="525780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618"/>
          </a:solidFill>
          <a:ln w="12700">
            <a:solidFill>
              <a:srgbClr val="8E0F14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it and sync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122993" y="5692140"/>
            <a:ext cx="219456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7369881" y="525780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618"/>
          </a:solidFill>
          <a:ln w="12700">
            <a:solidFill>
              <a:srgbClr val="8E0F14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balances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396740" y="5692140"/>
            <a:ext cx="219456" cy="0"/>
          </a:xfrm>
          <a:prstGeom prst="line">
            <a:avLst/>
          </a:prstGeom>
          <a:noFill/>
          <a:ln w="22225">
            <a:solidFill>
              <a:srgbClr val="FF4D55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9643628" y="525780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618"/>
          </a:solidFill>
          <a:ln w="12700">
            <a:solidFill>
              <a:srgbClr val="8E0F14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CRUD, summaries, budgets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locally in a few commands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101012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929384"/>
            <a:ext cx="453542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· install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· 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nodemon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# plain node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· verify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e2e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525780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2578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Plaid sandbox keys at dashboard.plaid.com/signup — fake banks and data, no real bank account needed.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52160" y="1783080"/>
            <a:ext cx="5788152" cy="420624"/>
          </a:xfrm>
          <a:prstGeom prst="roundRect">
            <a:avLst>
              <a:gd name="adj" fmla="val 13043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8836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18836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port (default 5000)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52160" y="2276856"/>
            <a:ext cx="5788152" cy="420624"/>
          </a:xfrm>
          <a:prstGeom prst="roundRect">
            <a:avLst>
              <a:gd name="adj" fmla="val 13043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2377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915400" y="2377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connection string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52160" y="2770632"/>
            <a:ext cx="5788152" cy="420624"/>
          </a:xfrm>
          <a:prstGeom prst="roundRect">
            <a:avLst>
              <a:gd name="adj" fmla="val 13043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28712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915400" y="287121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used to sign tokens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52160" y="3264408"/>
            <a:ext cx="5788152" cy="420624"/>
          </a:xfrm>
          <a:prstGeom prst="roundRect">
            <a:avLst>
              <a:gd name="adj" fmla="val 13043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35040" y="33649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JWT_EXPIRES_IN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915400" y="33649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lifetime (default 7d)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852160" y="3758184"/>
            <a:ext cx="5788152" cy="420624"/>
          </a:xfrm>
          <a:prstGeom prst="roundRect">
            <a:avLst>
              <a:gd name="adj" fmla="val 13043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3858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TOKEN_ENCRYPTION_KEY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915400" y="38587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hex chars — required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852160" y="4251960"/>
            <a:ext cx="5788152" cy="420624"/>
          </a:xfrm>
          <a:prstGeom prst="roundRect">
            <a:avLst>
              <a:gd name="adj" fmla="val 13043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35040" y="43525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PLAID_CLIENT_ID / _SECRET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915400" y="43525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sandbox keys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852160" y="4745736"/>
            <a:ext cx="5788152" cy="420624"/>
          </a:xfrm>
          <a:prstGeom prst="roundRect">
            <a:avLst>
              <a:gd name="adj" fmla="val 13043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35040" y="4846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PLAID_ENV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915400" y="4846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(or production)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852160" y="5239512"/>
            <a:ext cx="5788152" cy="420624"/>
          </a:xfrm>
          <a:prstGeom prst="roundRect">
            <a:avLst>
              <a:gd name="adj" fmla="val 13043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35040" y="53400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CORS_ORIGIN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915400" y="53400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allowed origins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852160" y="5733288"/>
            <a:ext cx="5788152" cy="420624"/>
          </a:xfrm>
          <a:prstGeom prst="roundRect">
            <a:avLst>
              <a:gd name="adj" fmla="val 13043"/>
            </a:avLst>
          </a:prstGeom>
          <a:solidFill>
            <a:srgbClr val="161618"/>
          </a:solidFill>
          <a:ln w="6350">
            <a:solidFill>
              <a:srgbClr val="2C2C3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035040" y="58338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NODE_ENV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8915400" y="5833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when deployed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it safely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230222"/>
            <a:ext cx="294437" cy="2944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Render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pfm-project-backend.onrender.com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361188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101012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024128" y="3758184"/>
            <a:ext cx="4169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health check — no auth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4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/api/health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 "status": "ok" }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9377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platform proxy, trust proxy = 1 lets the rate limiter see real client IPs. Requests from origins outside CORS_ORIGIN get a 403.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828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37960" y="1783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exposed secrets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37960" y="209397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appeared in a screenshot or shared zip: Atlas password, JWT_SECRET, Plaid secret, TOKEN_ENCRYPTION_KEY.</a:t>
            </a:r>
            <a:endParaRPr lang="en-US" sz="12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72491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37960" y="2679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environment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537960" y="299008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NODE_ENV=production and PLAID_ENV=sandbox (or production when ready).</a:t>
            </a:r>
            <a:endParaRPr lang="en-US" sz="12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621024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537960" y="35753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 CORS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537960" y="38862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CORS_ORIGIN to the real allowed origin(s).</a:t>
            </a:r>
            <a:endParaRPr lang="en-US" sz="12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4517136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537960" y="44714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.env out of git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6537960" y="4782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listed in .gitignore — confirm it never gets committed.</a:t>
            </a:r>
            <a:endParaRPr lang="en-US" sz="12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5413248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537960" y="53675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host with env vars</a:t>
            </a:r>
            <a:endParaRPr lang="en-US" sz="1600" dirty="0"/>
          </a:p>
        </p:txBody>
      </p:sp>
      <p:sp>
        <p:nvSpPr>
          <p:cNvPr id="29" name="Text 20"/>
          <p:cNvSpPr txBox="1"/>
          <p:nvPr/>
        </p:nvSpPr>
        <p:spPr>
          <a:xfrm>
            <a:off x="6537960" y="567842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Render, Railway, Fly and similar platforms.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205533"/>
            <a:ext cx="252374" cy="25237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05740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sync window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78892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sync imports the last 30 days; every transaction inside that window is imported.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38218" y="178308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12538" y="205740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671" y="220553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4058" y="205740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balances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612538" y="278892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refresh-balances re-reads Plaid’s cached values — it is not a live check with the bank.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27797" y="178308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402117" y="205740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250" y="2205533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33637" y="205740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Re-link expired banks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402117" y="278892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ITEM_LOGIN_REQUIRED the user links again as a new connection. No unlink endpoint or Plaid update mode yet.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406908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4491533"/>
            <a:ext cx="252374" cy="25237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554480" y="434340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profile endpoints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822960" y="507492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endpoints to update or delete the user profile.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4338218" y="406908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612538" y="434340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671" y="4491533"/>
            <a:ext cx="252374" cy="25237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44058" y="434340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syncs return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4612538" y="507492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deleted Plaid-synced transaction can come back on the next sync.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8127797" y="406908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402117" y="434340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250" y="4491533"/>
            <a:ext cx="252374" cy="25237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33637" y="434340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by default</a:t>
            </a:r>
            <a:endParaRPr lang="en-US" sz="1700" dirty="0"/>
          </a:p>
        </p:txBody>
      </p:sp>
      <p:sp>
        <p:nvSpPr>
          <p:cNvPr id="35" name="Text 26"/>
          <p:cNvSpPr txBox="1"/>
          <p:nvPr/>
        </p:nvSpPr>
        <p:spPr>
          <a:xfrm>
            <a:off x="8402117" y="507492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PLAID_ENV is sandbox (fake banks and data) until switched to production.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Dashboard — Backend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7647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11226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JWT, AES-256-GCM token encryption, helmet, a CORS allowlist and tiered rate limits.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86207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scoped API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320954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JSON endpoints; every query is filtered by the logged-in user.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97764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395935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analytics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430682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and monthly summaries, plus budget status with spent, remaining and overBudget.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rgbClr val="E01E26"/>
          </a:solidFill>
          <a:ln w="3175">
            <a:solidFill>
              <a:srgbClr val="E01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50566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documented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540410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Jest suite, a live e2e smoke test and a GitBook API reference.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589520" y="1783080"/>
            <a:ext cx="4050792" cy="3063240"/>
          </a:xfrm>
          <a:prstGeom prst="roundRect">
            <a:avLst>
              <a:gd name="adj" fmla="val 2388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2377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2670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github.com/neothegamer/PFM-Project-Backend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31546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 (GitBook)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0" y="3447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neo-thegamer.gitbook.io/neo_thegamer-docs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863840" y="39319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backend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0" y="4224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pfm-project-backend.onrender.com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589520" y="5074920"/>
            <a:ext cx="4050792" cy="1143000"/>
          </a:xfrm>
          <a:prstGeom prst="roundRect">
            <a:avLst>
              <a:gd name="adj" fmla="val 6400"/>
            </a:avLst>
          </a:prstGeom>
          <a:solidFill>
            <a:srgbClr val="161618"/>
          </a:solidFill>
          <a:ln w="9525">
            <a:solidFill>
              <a:srgbClr val="2C2C3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863840" y="5212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863840" y="551383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MongoDB · Mongoose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· JWT · Jest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PFM Dashboard — Backend</dc:title>
  <dc:subject>PptxGenJS Presentation</dc:subject>
  <dc:creator>PptxGenJS</dc:creator>
  <cp:lastModifiedBy>PptxGenJS</cp:lastModifiedBy>
  <cp:revision>1</cp:revision>
  <dcterms:created xsi:type="dcterms:W3CDTF">2026-09-21T19:59:00Z</dcterms:created>
  <dcterms:modified xsi:type="dcterms:W3CDTF">2026-09-21T19:59:00Z</dcterms:modified>
</cp:coreProperties>
</file>